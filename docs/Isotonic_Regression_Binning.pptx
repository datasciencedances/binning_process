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Isotonic Regression Binning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Binning đơn điệu dựa trên hồi quy đẳng áp</a:t>
            </a:r>
          </a:p>
          <a:p/>
          <a:p>
            <a:r>
              <a:t>• Ứng dụng: Scorecard, risk modeling, credit scoring</a:t>
            </a:r>
          </a:p>
          <a:p>
            <a:r>
              <a:t>• Đảm bảo: Biến bin có quan hệ đơn điệu với event rate</a:t>
            </a:r>
          </a:p>
          <a:p>
            <a:r>
              <a:t>• Công cụ: Isotonic Regression (sklearn) + quantile chia sơ bộ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Binning trong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Binning: Chia biến liên tục X thành các khoảng (bins), mỗi khoảng gán một giá trị (index, WOE, score).</a:t>
            </a:r>
          </a:p>
          <a:p>
            <a:pPr>
              <a:spcAft>
                <a:spcPts val="600"/>
              </a:spcAft>
            </a:pPr>
            <a:r>
              <a:t>Mục đích: Giảm nhiễu, dễ giải thích; xử lý phi tuyến (X ↔ risk); chuẩn hóa cho scorecard (WOE, điểm).</a:t>
            </a:r>
          </a:p>
          <a:p>
            <a:pPr>
              <a:spcAft>
                <a:spcPts val="600"/>
              </a:spcAft>
            </a:pPr>
            <a:r>
              <a:t>Thách thức: Chọn cut-points sao cho vừa đủ bins, vừa ổn định, vừa có ý nghĩa (ví dụ đơn điệu).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Tại sao cần monotonic?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Monotonic: Khi X tăng (hoặc giảm), event rate chỉ đi một chiều — tăng dần hoặc giảm dần.</a:t>
            </a:r>
          </a:p>
          <a:p>
            <a:pPr>
              <a:spcAft>
                <a:spcPts val="600"/>
              </a:spcAft>
            </a:pPr>
            <a:r>
              <a:t>Lý do: Giải thích dễ với business/compliance; ổn định (tránh bin lồi lõm do nhiễu); regulation (fair lending).</a:t>
            </a:r>
          </a:p>
          <a:p>
            <a:pPr>
              <a:spcAft>
                <a:spcPts val="600"/>
              </a:spcAft>
            </a:pPr>
            <a:r>
              <a:t>Isotonic Binner: Tạo cut-points sao cho sau khi bin, event rate theo bin luôn đơn điệu.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Isotonic Regression (hồi quy đẳng áp)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Định nghĩa: Tìm hàm f(x) đơn điệu (tăng hoặc giảm) xấp xỉ dữ liệu tốt nhất (tổng bình phương sai số có trọng số).</a:t>
            </a:r>
          </a:p>
          <a:p>
            <a:pPr>
              <a:spcAft>
                <a:spcPts val="600"/>
              </a:spcAft>
            </a:pPr>
            <a:r>
              <a:t>Ràng buộc: Chỉ đi lên (increasing) hoặc đi xuống (decreasing), không lên xuống tùy ý.</a:t>
            </a:r>
          </a:p>
          <a:p>
            <a:pPr>
              <a:spcAft>
                <a:spcPts val="600"/>
              </a:spcAft>
            </a:pPr>
            <a:r>
              <a:t>Hình ảnh: Đường bậc thang — bậc ngang = mức giá trị bằng nhau; chỗ gãy = ranh giới (cut-point).</a:t>
            </a:r>
          </a:p>
          <a:p>
            <a:pPr>
              <a:spcAft>
                <a:spcPts val="600"/>
              </a:spcAft>
            </a:pPr>
            <a:r>
              <a:t>Trong binning: Input = (center bin, event rate); output = đường bậc thang đơn điệu; điểm gãy → cut-point trên 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Từ dữ liệu nhiễu → đường đơn điệu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latin typeface="Consolas"/>
              </a:defRPr>
            </a:pPr>
            <a:r>
              <a:t>Event rate</a:t>
            </a:r>
          </a:p>
          <a:p>
            <a:pPr>
              <a:defRPr sz="1100">
                <a:latin typeface="Consolas"/>
              </a:defRPr>
            </a:pPr>
            <a:r>
              <a:t>    ^</a:t>
            </a:r>
          </a:p>
          <a:p>
            <a:pPr>
              <a:defRPr sz="1100">
                <a:latin typeface="Consolas"/>
              </a:defRPr>
            </a:pPr>
            <a:r>
              <a:t>    |     *  *</a:t>
            </a:r>
          </a:p>
          <a:p>
            <a:pPr>
              <a:defRPr sz="1100">
                <a:latin typeface="Consolas"/>
              </a:defRPr>
            </a:pPr>
            <a:r>
              <a:t>    |   *   *    *   ← Dữ liệu thô lên xuống do nhiễu</a:t>
            </a:r>
          </a:p>
          <a:p>
            <a:pPr>
              <a:defRPr sz="1100">
                <a:latin typeface="Consolas"/>
              </a:defRPr>
            </a:pPr>
            <a:r>
              <a:t>    | *       *     *</a:t>
            </a:r>
          </a:p>
          <a:p>
            <a:pPr>
              <a:defRPr sz="1100">
                <a:latin typeface="Consolas"/>
              </a:defRPr>
            </a:pPr>
            <a:r>
              <a:t>    +-------------------------&gt; X (bin center)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Isotonic vẽ đường bậc thang đi LÊN hoặc XUỐNG qua các điểm.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t>Mỗi bậc ngang = một nhóm bin có cùng event rate (đã làm mượt).</a:t>
            </a:r>
          </a:p>
          <a:p>
            <a:pPr>
              <a:spcAft>
                <a:spcPts val="400"/>
              </a:spcAft>
            </a:pPr>
            <a:r>
              <a:t>Điểm gãy giữa hai bậc = cut-point trên trục X → chia bin cuối cùng.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Các bước của Isotonic Binner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Bước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Mô tả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Chia X theo quantile (vd. 20 bins) → init_cuts, edges, bin_idx.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Mỗi bin: center (median X), event rate, weight (số lượng).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 Isotonic Regression: (centers, rates, weights) → đường bậc thang đơn điệu.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Điểm gãy: hai bậc liên tiếp khác nhau → boundary → giá trị X thực → cut. Giới hạn max_bins.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 tiết bước 1 và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Bước 1 — Quantile: quantile_cuts(x, n_init_bins) → edges = [-∞, cuts..., +∞], bin_idx = pd.cut(x, edges).</a:t>
            </a:r>
          </a:p>
          <a:p>
            <a:pPr>
              <a:spcAft>
                <a:spcPts val="600"/>
              </a:spcAft>
            </a:pPr>
            <a:r>
              <a:t>Bước 2 — Đại diện mỗi bin: Center = median(x[mask]); Rate = y[mask].mean(); Weight = mask.sum().</a:t>
            </a:r>
          </a:p>
          <a:p>
            <a:pPr>
              <a:spcAft>
                <a:spcPts val="600"/>
              </a:spcAft>
            </a:pPr>
            <a:r>
              <a:t>→ Bộ ba (centers, rates, weights) làm đầu vào cho Isotonic Regression.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 tiết bước 3 và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Bước 3 — Fit: IsotonicRegression(increasing=(direction_=='ascending')); fitted = iso.fit_transform(centers, rates, sample_weight=weights).</a:t>
            </a:r>
          </a:p>
          <a:p>
            <a:pPr>
              <a:spcAft>
                <a:spcPts val="600"/>
              </a:spcAft>
            </a:pPr>
            <a:r>
              <a:t>Bước 4 — Cut-points: Duyệt (fitted[i], fitted[i+1]); nếu khác nhau → boundary = (centers[i]+centers[i+1])/2 → ánh xạ về X thực → cuts. Cắt bớt theo max_bins.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Ưu điểm &amp; Hạn chế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Ưu điểm: Đơn điệu đảm bảo; tận dụng center/rate/weight có trọng số; ổn định (làm mượt nhiễu); dùng sklearn, dễ bảo trì.</a:t>
            </a:r>
          </a:p>
          <a:p>
            <a:pPr>
              <a:spcAft>
                <a:spcPts val="600"/>
              </a:spcAft>
            </a:pPr>
            <a:r>
              <a:t>Hạn chế: Phụ thuộc n_init_bins (quá ít → ít điểm gãy; quá nhiều → overfit); chỉ mô hình một chiều, không dạng 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Tóm tắt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Isotonic Binner dùng Isotonic Regression để tìm đường bậc thang đơn điệu qua (center, event rate) của các bin quantile.</a:t>
            </a:r>
          </a:p>
          <a:p>
            <a:pPr>
              <a:spcAft>
                <a:spcPts val="600"/>
              </a:spcAft>
            </a:pPr>
            <a:r>
              <a:t>Cut-points = các điểm gãy của đường bậc thang, ánh xạ về giá trị X.</a:t>
            </a:r>
          </a:p>
          <a:p>
            <a:pPr>
              <a:spcAft>
                <a:spcPts val="600"/>
              </a:spcAft>
            </a:pPr>
            <a:r>
              <a:t>Đảm bảo monotonic sau khi bin, phù hợp scorecard và quy định.</a:t>
            </a:r>
          </a:p>
          <a:p>
            <a:pPr>
              <a:spcAft>
                <a:spcPts val="600"/>
              </a:spcAft>
            </a:pPr>
            <a:r>
              <a:t>Luồng: Quantile → centers/rates/weights → Isotonic fit → điểm gãy → cuts (max_bins).</a:t>
            </a:r>
          </a:p>
          <a:p>
            <a:pPr>
              <a:spcAft>
                <a:spcPts val="600"/>
              </a:spcAft>
            </a:pPr>
            <a:r>
              <a:t>Code: binning_process/supervised/isotoic.py — class IsotonicBinner.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